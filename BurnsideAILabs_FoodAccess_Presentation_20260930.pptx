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00405-AC7A-4BE1-8C57-D5723531994E}" v="12" dt="2026-09-30T19:07:23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ipper" userId="8525803c88c76185" providerId="LiveId" clId="{312EDBE4-2AFB-4DF6-B4B5-923E6B84A91F}"/>
    <pc:docChg chg="undo custSel delSld modSld">
      <pc:chgData name="david ripper" userId="8525803c88c76185" providerId="LiveId" clId="{312EDBE4-2AFB-4DF6-B4B5-923E6B84A91F}" dt="2026-09-30T19:12:26.455" v="206" actId="478"/>
      <pc:docMkLst>
        <pc:docMk/>
      </pc:docMkLst>
      <pc:sldChg chg="addSp delSp modSp mod">
        <pc:chgData name="david ripper" userId="8525803c88c76185" providerId="LiveId" clId="{312EDBE4-2AFB-4DF6-B4B5-923E6B84A91F}" dt="2026-09-30T19:10:30.190" v="204" actId="1076"/>
        <pc:sldMkLst>
          <pc:docMk/>
          <pc:sldMk cId="0" sldId="256"/>
        </pc:sldMkLst>
        <pc:spChg chg="mod">
          <ac:chgData name="david ripper" userId="8525803c88c76185" providerId="LiveId" clId="{312EDBE4-2AFB-4DF6-B4B5-923E6B84A91F}" dt="2026-09-30T19:03:08.289" v="31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10:30.190" v="204" actId="1076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david ripper" userId="8525803c88c76185" providerId="LiveId" clId="{312EDBE4-2AFB-4DF6-B4B5-923E6B84A91F}" dt="2026-09-30T19:09:46.603" v="197" actId="1076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10:21.361" v="203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0:00.633" v="200" actId="478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10:07.406" v="201" actId="478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david ripper" userId="8525803c88c76185" providerId="LiveId" clId="{312EDBE4-2AFB-4DF6-B4B5-923E6B84A91F}" dt="2026-09-30T19:09:41.432" v="196" actId="1076"/>
          <ac:spMkLst>
            <pc:docMk/>
            <pc:sldMk cId="0" sldId="256"/>
            <ac:spMk id="15" creationId="{9D78E196-BE5F-7FED-0FC0-69E174601299}"/>
          </ac:spMkLst>
        </pc:spChg>
      </pc:sldChg>
      <pc:sldChg chg="delSp mod">
        <pc:chgData name="david ripper" userId="8525803c88c76185" providerId="LiveId" clId="{312EDBE4-2AFB-4DF6-B4B5-923E6B84A91F}" dt="2026-09-30T19:12:26.455" v="206" actId="478"/>
        <pc:sldMkLst>
          <pc:docMk/>
          <pc:sldMk cId="0" sldId="257"/>
        </pc:sldMkLst>
        <pc:spChg chg="del">
          <ac:chgData name="david ripper" userId="8525803c88c76185" providerId="LiveId" clId="{312EDBE4-2AFB-4DF6-B4B5-923E6B84A91F}" dt="2026-09-30T19:12:26.455" v="206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2:25.735" v="205" actId="478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del mod">
        <pc:chgData name="david ripper" userId="8525803c88c76185" providerId="LiveId" clId="{312EDBE4-2AFB-4DF6-B4B5-923E6B84A91F}" dt="2026-09-30T19:02:41.707" v="7" actId="2696"/>
        <pc:sldMkLst>
          <pc:docMk/>
          <pc:sldMk cId="0" sldId="267"/>
        </pc:sldMkLst>
        <pc:spChg chg="del">
          <ac:chgData name="david ripper" userId="8525803c88c76185" providerId="LiveId" clId="{312EDBE4-2AFB-4DF6-B4B5-923E6B84A91F}" dt="2026-09-30T19:02:26.474" v="0" actId="478"/>
          <ac:spMkLst>
            <pc:docMk/>
            <pc:sldMk cId="0" sldId="267"/>
            <ac:spMk id="2" creationId="{00000000-0000-0000-0000-000000000000}"/>
          </ac:spMkLst>
        </pc:spChg>
        <pc:spChg chg="add del mod">
          <ac:chgData name="david ripper" userId="8525803c88c76185" providerId="LiveId" clId="{312EDBE4-2AFB-4DF6-B4B5-923E6B84A91F}" dt="2026-09-30T19:02:29.582" v="3"/>
          <ac:spMkLst>
            <pc:docMk/>
            <pc:sldMk cId="0" sldId="267"/>
            <ac:spMk id="31" creationId="{F9E4CFF7-8659-A4C2-57DD-16632295DFE5}"/>
          </ac:spMkLst>
        </pc:spChg>
        <pc:spChg chg="add del mod">
          <ac:chgData name="david ripper" userId="8525803c88c76185" providerId="LiveId" clId="{312EDBE4-2AFB-4DF6-B4B5-923E6B84A91F}" dt="2026-09-30T19:02:34.968" v="6"/>
          <ac:spMkLst>
            <pc:docMk/>
            <pc:sldMk cId="0" sldId="267"/>
            <ac:spMk id="32" creationId="{08B99154-2FF3-6191-E083-EC64AD9D15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96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[10s] We're Burnside AI Labs — David Ripper, Avidant Allen, Rohan Vibhuti. Fresh Route: ask naturally, get there reliably. A conversational finder matching Hartford residents to food they can realistically reach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[40s] Meet Maria — 34, two kids, no car, 2nd shift in Hartford. It’s 3 PM; she needs food today. 13.7% of U.S. households were food insecure in 2024, a ten-year high (USDA ERS, Dec 2025). In CT, 1 in 7 residents — 516,000+ — face hunger (Connecticut Foodshare, 2025). And 14.5% of U.S. households are low-income, 1/2+ mile from a supermarket, with no vehicle (USDA Atlas, 2019). Her gap isn’t information — it’s reachability.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[35s] Three sources. USDA's Food Access Research Atlas maps low-access tracts. Connecticut Foodshare — 480+ partners — publishes pantry and mobile-site schedules. CTtransit's public GTFS feed gives real bus routing. The insight: hours are the number-one failure point. Directories list places, not whether they're open when you can get there. Mobile Foodshare sites run 30-to-45-minute windows every other week. Our stale-directory figure is a team field estimate — placeholder until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[15s] Fresh Route in one line: ask naturally, get there reliably. Type a request; we parse where, how, and when — route by real walk and bus times — score whether each site is open today — and return ranked cards plus a map. Four MVP pieces, live in today's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[25s] Maria at 3 PM types exactly what she'd say: I don't have a car, near Park Street, need food today. The LLM parses location, mode, and time — confirms it back in one trustworthy line — and structures the intent. No forms, no filters, no app to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[25s] Ranked by reachability, not distance. Hands On Hartford's MANNA pantry: 14 minutes by the 33 bus, open till 5, likely-open 94. Community Renewal Team on Albany Ave: 19 minutes on foot, open till 7, 88 — call first. The win: Loaves and Fishes is closer but Tuesday-only — filtered instead of sending Maria to a locked door. Tomorrow's Mobile Foodshare window is already queued.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[25s] One tap: the actual way there. Walk 3 minutes to the Park Street stop, ride the CTtransit 33 eight minutes to Parkville, walk 3 more — 14 minutes total, with tap-to-call. Distances are illustrative mockups; routing uses real CTtransit GTFS and OpenStreetMap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[15s] Four stages, AI where it matters. An LLM parses intent and reconciles messy hours into our schema. Routing and scoring are deterministic heuristics over GTFS and OpenStreetMap — no black boxes where a wrong answer strands someone. The likely-open score: each site scores 0–100 from posted hours, verification recency, and whether right now falls inside them. Closed-today sites are filtered, not ranked.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[15s] Foodshare, 211 CT, and the USDA SNAP retailer CSV feed normalization, where the LLM reconciles messy hours into our schema. Sites go into a spatial index joined with CTtransit GTFS. Today that’s a hand-curated 30-site dataset running client-side — nothing that can fail on stage. Next: an hourly refresh job and a 211/Foodshare partnership for live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[35s] Four contrasts. Directories sort by distance — we rank by multi-modal travel time, because distance means nothing without a car. They show static hours — we score likely-open confidence and filter closed sites. Caseworkers cross-reference 3+ directories per call — we answer plain-language questions in seconds. Mobile-first, because Maria is on her phone. Citations in slides 2–3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[15s] Day-zero traction, honestly framed. We red-teamed the parser with five messy inputs — typos, Spanish, “tomorrow morning” — at our 2:30 trust checkpoint. Thirty hand-curated sites, every row verified. Client-side demo with pre-generated fallbacks — a network failure can’t strand us. Next: a 211/Foodshare pilot conversation. No partner commitments claimed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[10s] Fresh Route, by Burnside AI Labs — David Ripper on research, story, and QA; Avidant Allen on data and scoring; Rohan Vibhuti on build and demo. Demo and repo links are being shared live.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[Appendix — not presented] Full scoring bands for judge questions. Ninety to one hundred: likely open, hours verified recently. Sixty to eighty-nine: probably open, call to confirm. Thirty to fifty-nine: hours unverified, call first. Zero: known closed today, filtered into the tomorrow view. Inputs are current day and time, the site's hours row, and verification recency — and every result carries a plain-language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[Appendix — not presented] Schema reference and future features for judge questions: Spanish support, dietary filters, text-me summaries, every-other-week mobile cadence modeling, SNAP retailer freshness checks, and geographic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ehta.avant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rohanvibhuti6@gmail.com" TargetMode="External"/><Relationship Id="rId4" Type="http://schemas.openxmlformats.org/officeDocument/2006/relationships/hyperlink" Target="mailto:DavidARipper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21208"/>
            <a:ext cx="3291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HACK FOR HUMANITY  ·  CHALLENGE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6400" b="1" dirty="0" err="1">
                <a:solidFill>
                  <a:srgbClr val="2E2A26"/>
                </a:solidFill>
                <a:latin typeface="DejaVu Serif"/>
              </a:rPr>
              <a:t>Heartfood</a:t>
            </a:r>
            <a:endParaRPr sz="6400" b="1" dirty="0">
              <a:solidFill>
                <a:srgbClr val="2E2A26"/>
              </a:solidFill>
              <a:latin typeface="DejaVu Serif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0" dirty="0">
                <a:solidFill>
                  <a:srgbClr val="A85A38"/>
                </a:solidFill>
                <a:latin typeface="DejaVu Serif"/>
              </a:rPr>
              <a:t>Ask naturally. Get there reliably.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254" y="3349024"/>
            <a:ext cx="10515600" cy="1020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 dirty="0">
                <a:solidFill>
                  <a:srgbClr val="6E645B"/>
                </a:solidFill>
                <a:latin typeface="Liberation Sans"/>
              </a:rPr>
              <a:t>A conversational finder for Greater Hartford: pantry, mobile market, or SNAP grocer</a:t>
            </a:r>
            <a:r>
              <a:rPr lang="en-US" sz="1900" b="0" dirty="0">
                <a:solidFill>
                  <a:srgbClr val="6E645B"/>
                </a:solidFill>
                <a:latin typeface="Liberation Sans"/>
              </a:rPr>
              <a:t>s</a:t>
            </a:r>
            <a:endParaRPr lang="en-US" sz="1900" dirty="0">
              <a:solidFill>
                <a:srgbClr val="6E645B"/>
              </a:solidFill>
              <a:latin typeface="Liberation San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lang="en-US" sz="1900" dirty="0">
              <a:solidFill>
                <a:srgbClr val="6E645B"/>
              </a:solidFill>
              <a:latin typeface="Liberation San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900" dirty="0">
                <a:solidFill>
                  <a:srgbClr val="6E645B"/>
                </a:solidFill>
                <a:latin typeface="Liberation Sans"/>
              </a:rPr>
              <a:t>R</a:t>
            </a:r>
            <a:r>
              <a:rPr sz="1900" b="0" dirty="0">
                <a:solidFill>
                  <a:srgbClr val="6E645B"/>
                </a:solidFill>
                <a:latin typeface="Liberation Sans"/>
              </a:rPr>
              <a:t>anked by how you can actually get there, matched to today's hours.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927" y="5181520"/>
            <a:ext cx="2180942" cy="1066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2000" b="1" dirty="0" err="1">
                <a:solidFill>
                  <a:srgbClr val="FFFFFF"/>
                </a:solidFill>
                <a:latin typeface="Liberation Sans"/>
              </a:rPr>
              <a:t>Avidant</a:t>
            </a:r>
            <a:r>
              <a:rPr sz="2000" b="1" dirty="0">
                <a:solidFill>
                  <a:srgbClr val="FFFFFF"/>
                </a:solidFill>
                <a:latin typeface="Liberation Sans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beration Sans"/>
              </a:rPr>
              <a:t>Mehira</a:t>
            </a:r>
          </a:p>
          <a:p>
            <a:pPr>
              <a:spcAft>
                <a:spcPts val="200"/>
              </a:spcAft>
            </a:pPr>
            <a:r>
              <a:rPr lang="en-US" sz="2000" b="1" dirty="0">
                <a:solidFill>
                  <a:srgbClr val="FFFFFF"/>
                </a:solidFill>
                <a:latin typeface="Liberation Sans"/>
              </a:rPr>
              <a:t>David Ripper </a:t>
            </a:r>
          </a:p>
          <a:p>
            <a:pPr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</a:rPr>
              <a:t>Rohan Vibhuti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78E196-BE5F-7FED-0FC0-69E174601299}"/>
              </a:ext>
            </a:extLst>
          </p:cNvPr>
          <p:cNvSpPr txBox="1"/>
          <p:nvPr/>
        </p:nvSpPr>
        <p:spPr>
          <a:xfrm>
            <a:off x="3159546" y="5196913"/>
            <a:ext cx="3876797" cy="1336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mehta.avant@gmail.com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DavidARipper@gmail.com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rohanvibhuti6@gmail.com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2000" b="1" dirty="0">
              <a:solidFill>
                <a:srgbClr val="FFFFFF"/>
              </a:solidFill>
              <a:latin typeface="Liberatio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Maria needs dinner, not a directory.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1847088"/>
            <a:ext cx="3566160" cy="448056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56616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84248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E2A26"/>
                </a:solidFill>
                <a:latin typeface="DejaVu Serif"/>
              </a:rPr>
              <a:t>Maria, 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>
                <a:solidFill>
                  <a:srgbClr val="2E2A26"/>
                </a:solidFill>
                <a:latin typeface="Liberation Sans"/>
              </a:rPr>
              <a:t>•  Two kids, no car — bus or on foot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>
                <a:solidFill>
                  <a:srgbClr val="2E2A26"/>
                </a:solidFill>
                <a:latin typeface="Liberation Sans"/>
              </a:rPr>
              <a:t>•  Works 2nd shift in Hartford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>
                <a:solidFill>
                  <a:srgbClr val="2E2A26"/>
                </a:solidFill>
                <a:latin typeface="Liberation Sans"/>
              </a:rPr>
              <a:t>•  It's 3 PM. She needs food today,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>
                <a:solidFill>
                  <a:srgbClr val="2E2A26"/>
                </a:solidFill>
                <a:latin typeface="Liberation Sans"/>
              </a:rPr>
              <a:t>•  before her shift starts.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92040"/>
            <a:ext cx="3017520" cy="1051560"/>
          </a:xfrm>
          <a:prstGeom prst="roundRect">
            <a:avLst>
              <a:gd name="adj" fmla="val 10000"/>
            </a:avLst>
          </a:prstGeom>
          <a:solidFill>
            <a:srgbClr val="FDF3E4"/>
          </a:solidFill>
          <a:ln w="15875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98348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A85A38"/>
                </a:solidFill>
                <a:latin typeface="Liberation Sans"/>
              </a:rPr>
              <a:t>“Google Maps shows pantries 8 miles away. 211 gives her a phone number. Neither tells her what she can reach before closing.”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5424" y="1847088"/>
            <a:ext cx="7132320" cy="13716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80560" y="1783080"/>
            <a:ext cx="7132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1892807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A85A38"/>
                </a:solidFill>
                <a:latin typeface="DejaVu Serif"/>
              </a:rPr>
              <a:t>13.7%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92807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E2A26"/>
                </a:solidFill>
                <a:latin typeface="Liberation Sans"/>
              </a:rPr>
              <a:t>of U.S. households were food insecure in 2024 — a 10-year high.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E645B"/>
                </a:solidFill>
                <a:latin typeface="Liberation Sans"/>
              </a:rPr>
              <a:t>Source: USDA Economic Research Service, Household Food Security in the United States in 2024 (Dec 2025)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5424" y="3328416"/>
            <a:ext cx="7132320" cy="13716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80560" y="3264408"/>
            <a:ext cx="7132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374136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A85A38"/>
                </a:solidFill>
                <a:latin typeface="DejaVu Serif"/>
              </a:rPr>
              <a:t>1 in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74136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E2A26"/>
                </a:solidFill>
                <a:latin typeface="Liberation Sans"/>
              </a:rPr>
              <a:t>Connecticut residents — 516,000+ people — face hunger; 1 in 6 are children.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330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E645B"/>
                </a:solidFill>
                <a:latin typeface="Liberation Sans"/>
              </a:rPr>
              <a:t>Source: Connecticut Foodshare, via Hartford Foundation (2025)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5424" y="4809744"/>
            <a:ext cx="7132320" cy="13716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80560" y="4745736"/>
            <a:ext cx="7132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4855464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A85A38"/>
                </a:solidFill>
                <a:latin typeface="DejaVu Serif"/>
              </a:rPr>
              <a:t>14.5%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55464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E2A26"/>
                </a:solidFill>
                <a:latin typeface="Liberation Sans"/>
              </a:rPr>
              <a:t>of U.S. households: low-income, &gt;½ mile from a supermarket, no vehicle.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614416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E645B"/>
                </a:solidFill>
                <a:latin typeface="Liberation Sans"/>
              </a:rPr>
              <a:t>Source: USDA Food Access Research Atlas, 2019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RESEARCH &amp; INSIGHT  ·  35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Hours are the #1 failure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1847088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19659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84248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USDA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774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2A26"/>
                </a:solidFill>
                <a:latin typeface="DejaVu Serif"/>
              </a:rPr>
              <a:t>Food Access Research
Atlas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632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Census-tract food-access gaps; low-income + low-access + no-vehicle measures.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3" y="1847088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51959" y="1783080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6279" y="19659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79" y="1984248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FOODSHARE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3774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2A26"/>
                </a:solidFill>
                <a:latin typeface="DejaVu Serif"/>
              </a:rPr>
              <a:t>Connecticut
Foodshare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0632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CT's food bank: 480+ partner agencies, 100+ mobile pantry sites statewide.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847088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55279" y="1783080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0" y="19659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984248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CTTRANSIT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7744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2A26"/>
                </a:solidFill>
                <a:latin typeface="DejaVu Serif"/>
              </a:rPr>
              <a:t>CTtransit GTFS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632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Public transit schedules + stops — the raw feed for bus-reachability routing.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3" y="4361688"/>
            <a:ext cx="11091672" cy="2212848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48640" y="4297680"/>
            <a:ext cx="11091672" cy="2212848"/>
          </a:xfrm>
          <a:prstGeom prst="roundRect">
            <a:avLst>
              <a:gd name="adj" fmla="val 10000"/>
            </a:avLst>
          </a:prstGeom>
          <a:solidFill>
            <a:srgbClr val="FDF3E4"/>
          </a:solidFill>
          <a:ln w="15875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A85A38"/>
                </a:solidFill>
                <a:latin typeface="Liberation Sans"/>
              </a:rPr>
              <a:t>KEY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>
                <a:solidFill>
                  <a:srgbClr val="C96F4A"/>
                </a:solidFill>
                <a:latin typeface="Liberation Sans"/>
              </a:rPr>
              <a:t>•  </a:t>
            </a:r>
            <a:r>
              <a:rPr sz="1350" b="1">
                <a:solidFill>
                  <a:srgbClr val="2E2A26"/>
                </a:solidFill>
                <a:latin typeface="Liberation Sans"/>
              </a:rPr>
              <a:t>Directories list places — not whether they're open when you can get there. </a:t>
            </a:r>
            <a:r>
              <a:rPr sz="1350" b="0">
                <a:solidFill>
                  <a:srgbClr val="2E2A26"/>
                </a:solidFill>
                <a:latin typeface="Liberation Sans"/>
              </a:rPr>
              <a:t>Mobile Foodshare sites run ~30–45-minute windows every other week: easy to miss.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>
                <a:solidFill>
                  <a:srgbClr val="C96F4A"/>
                </a:solidFill>
                <a:latin typeface="Liberation Sans"/>
              </a:rPr>
              <a:t>•  </a:t>
            </a:r>
            <a:r>
              <a:rPr sz="1350" b="1">
                <a:solidFill>
                  <a:srgbClr val="2E2A26"/>
                </a:solidFill>
                <a:latin typeface="Liberation Sans"/>
              </a:rPr>
              <a:t>Verified hours (Sep 30, 2026): </a:t>
            </a:r>
            <a:r>
              <a:rPr sz="1350" b="0">
                <a:solidFill>
                  <a:srgbClr val="2E2A26"/>
                </a:solidFill>
                <a:latin typeface="Liberation Sans"/>
              </a:rPr>
              <a:t>Hands On Hartford's pantry closes at 5 PM (1 PM Fridays); Loaves &amp; Fishes is Tuesday-only, 11:30 AM–12:45 PM.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>
                <a:solidFill>
                  <a:srgbClr val="C96F4A"/>
                </a:solidFill>
                <a:latin typeface="Liberation Sans"/>
              </a:rPr>
              <a:t>•  </a:t>
            </a:r>
            <a:r>
              <a:rPr sz="1350" b="1">
                <a:solidFill>
                  <a:srgbClr val="2E2A26"/>
                </a:solidFill>
                <a:latin typeface="Liberation Sans"/>
              </a:rPr>
              <a:t>Team field estimate: </a:t>
            </a:r>
            <a:r>
              <a:rPr sz="1350" b="0">
                <a:solidFill>
                  <a:srgbClr val="2E2A26"/>
                </a:solidFill>
                <a:latin typeface="Liberation Sans"/>
              </a:rPr>
              <a:t>most directory hours we checked were stale or irregular — caseworkers cross-reference 3+ sources per call. (Placeholder: verify before citing publicly.)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SOLUTION  ·  15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“Ask naturally. Get there reliably.”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6E645B"/>
                </a:solidFill>
                <a:latin typeface="Liberation Sans"/>
              </a:rPr>
              <a:t>Fresh Route turns a plain-language request into ranked, reachable food options — with today's hours and an AI “likely open” score on every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3" y="2944368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1600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2A26"/>
                </a:solidFill>
                <a:latin typeface="Liberation Sans"/>
              </a:rPr>
              <a:t>Chat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16001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Free-text 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96312" y="3749039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944368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79" y="2880360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79" y="288036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3200400"/>
            <a:ext cx="1600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2A26"/>
                </a:solidFill>
                <a:latin typeface="Liberation Sans"/>
              </a:rPr>
              <a:t>Intent parser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3794760"/>
            <a:ext cx="16001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LLM: where · how · when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3752" y="3749039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58383" y="2944368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03519" y="2880360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03519" y="288036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0679" y="3200400"/>
            <a:ext cx="1600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2A26"/>
                </a:solidFill>
                <a:latin typeface="Liberation Sans"/>
              </a:rPr>
              <a:t>Routing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79" y="3794760"/>
            <a:ext cx="16001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GTFS + OSM:
walk / bus ETA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51191" y="3749039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35823" y="2944368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59" y="2880360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680959" y="288036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A8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19" y="3200400"/>
            <a:ext cx="1600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2A26"/>
                </a:solidFill>
                <a:latin typeface="Liberation Sans"/>
              </a:rPr>
              <a:t>Hours scorer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19" y="3794760"/>
            <a:ext cx="16001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“Likely open”
0–100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28632" y="3749039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113263" y="2944368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58399" y="2880360"/>
            <a:ext cx="1874519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058399" y="288036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95559" y="3200400"/>
            <a:ext cx="1600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2A26"/>
                </a:solidFill>
                <a:latin typeface="Liberation Sans"/>
              </a:rPr>
              <a:t>Cards +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59" y="3794760"/>
            <a:ext cx="16001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Ranked results
+ directions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5074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92040" y="5093207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eration Sans"/>
              </a:rPr>
              <a:t>MVP: 4 PIECES · LIVE TODAY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577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>
                <a:solidFill>
                  <a:srgbClr val="2E2A26"/>
                </a:solidFill>
                <a:latin typeface="Liberation Sans"/>
              </a:rPr>
              <a:t>•  Conversational input  ·  multi-modal routing ranked by ETA  ·  hours filtering + “likely open” scoring  ·  map view with route 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DEMO  ·  25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She just types what she'd say.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1847088"/>
            <a:ext cx="4206240" cy="45262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4206240" cy="4526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4206240" cy="502920"/>
          </a:xfrm>
          <a:prstGeom prst="roundRect">
            <a:avLst>
              <a:gd name="adj" fmla="val 35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DejaVu Serif"/>
              </a:rPr>
              <a:t>Fresh 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606040"/>
            <a:ext cx="3108960" cy="1051560"/>
          </a:xfrm>
          <a:prstGeom prst="roundRect">
            <a:avLst>
              <a:gd name="adj" fmla="val 25000"/>
            </a:avLst>
          </a:prstGeom>
          <a:solidFill>
            <a:srgbClr val="FDF3E4"/>
          </a:solidFill>
          <a:ln w="15875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269748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2E2A26"/>
                </a:solidFill>
                <a:latin typeface="Liberation Sans"/>
              </a:rPr>
              <a:t>“I don't have a car, near Park Street, need food today”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40480"/>
            <a:ext cx="3566160" cy="1005840"/>
          </a:xfrm>
          <a:prstGeom prst="roundRect">
            <a:avLst>
              <a:gd name="adj" fmla="val 25000"/>
            </a:avLst>
          </a:prstGeom>
          <a:solidFill>
            <a:srgbClr val="EFF3E9"/>
          </a:solidFill>
          <a:ln w="15875">
            <a:solidFill>
              <a:srgbClr val="9CA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3291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E2A26"/>
                </a:solidFill>
                <a:latin typeface="Liberation Sans"/>
              </a:rPr>
              <a:t>Got it — Park St &amp; Hudson St · bus or walking · today (Wed) afternoon.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5F7A52"/>
                </a:solidFill>
                <a:latin typeface="Liberation Sans"/>
              </a:rPr>
              <a:t>3 places you can realistically reach.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No forms. No filters. No app to install.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783080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85A38"/>
                </a:solidFill>
                <a:latin typeface="Liberation Sans"/>
              </a:rPr>
              <a:t>PARSED INTENT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58383" y="2350008"/>
            <a:ext cx="6309360" cy="118872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03520" y="2286000"/>
            <a:ext cx="63093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32120" y="24231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2441448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📍  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395728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Park St &amp; Hudson St, Hartford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94436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Neighborhood-level geocode; one clarifying question if ambiguous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58383" y="3675888"/>
            <a:ext cx="6309360" cy="118872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03520" y="3611880"/>
            <a:ext cx="63093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32120" y="3749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32120" y="3767328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🚌 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721608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No car → bus + walking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27024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CTtransit GTFS routing; walking fallback always computed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8383" y="5001768"/>
            <a:ext cx="6309360" cy="118872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03520" y="4937760"/>
            <a:ext cx="63093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532120" y="50749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32120" y="5093208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🕒 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047488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Today (Wed), afternoon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559612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Filters closed-today sites; scores the rest 0–100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DEMO  ·  25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Ranked by reachability, not distance.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1847088"/>
            <a:ext cx="11091672" cy="146304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1672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92807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2E2A26"/>
                </a:solidFill>
                <a:latin typeface="Liberation Sans"/>
              </a:rPr>
              <a:t>Hands On Hartford — MANNA Community Pantry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50008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Food pantry · 55 Bartholomew Ave, Hartford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2A26"/>
                </a:solidFill>
                <a:latin typeface="Liberation Sans"/>
              </a:rPr>
              <a:t>Bus 33 · 14 min total   ·   Open today until 5 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8424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002536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4767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F7A52"/>
                </a:solidFill>
                <a:latin typeface="Liberation Sans"/>
              </a:rPr>
              <a:t>Likely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441448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45B"/>
                </a:solidFill>
                <a:latin typeface="Liberation Sans"/>
              </a:rPr>
              <a:t>Hours verified Sep 30,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3" y="3419856"/>
            <a:ext cx="11091672" cy="146304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3355848"/>
            <a:ext cx="11091672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3584448"/>
            <a:ext cx="502920" cy="502920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465576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2E2A26"/>
                </a:solidFill>
                <a:latin typeface="Liberation Sans"/>
              </a:rPr>
              <a:t>Community Renewal Team — Albany 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22776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Food pantry · Albany Ave, Hartford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70248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2A26"/>
                </a:solidFill>
                <a:latin typeface="Liberation Sans"/>
              </a:rPr>
              <a:t>Walk 19 min   ·   Open today until 7 PM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55701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3575304"/>
            <a:ext cx="1051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52044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9A441"/>
                </a:solidFill>
                <a:latin typeface="Liberation Sans"/>
              </a:rPr>
              <a:t>Probably open — call to confirm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014215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45B"/>
                </a:solidFill>
                <a:latin typeface="Liberation Sans"/>
              </a:rPr>
              <a:t>Hours per directory — verify by phone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56048"/>
            <a:ext cx="11091672" cy="777240"/>
          </a:xfrm>
          <a:prstGeom prst="roundRect">
            <a:avLst>
              <a:gd name="adj" fmla="val 10000"/>
            </a:avLst>
          </a:prstGeom>
          <a:solidFill>
            <a:srgbClr val="F1EBDD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04748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E645B"/>
                </a:solidFill>
                <a:latin typeface="Liberation Sans"/>
              </a:rPr>
              <a:t>FILTERED OUT  ·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Loaves &amp; Fishes (Asylum Hill) is closer — but closed Wednesdays (Tue 11:30 AM–12:45 PM only). A distance-ranked list would send Maria there anyway.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A85A38"/>
                </a:solidFill>
                <a:latin typeface="Liberation Sans"/>
              </a:rPr>
              <a:t>TOMORROW  ·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E2A26"/>
                </a:solidFill>
                <a:latin typeface="Liberation Sans"/>
              </a:rPr>
              <a:t>Mobile Foodshare — Albany Ave · every other Thu 11:00–11:45 AM · Bus 31 from Park 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DEMO  ·  25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One tap: the actual way there.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1847088"/>
            <a:ext cx="7406640" cy="45262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7406640" cy="4526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11680" y="1920240"/>
            <a:ext cx="38100" cy="425196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1920240"/>
            <a:ext cx="38100" cy="425196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8100" cy="425196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7840" y="1920240"/>
            <a:ext cx="38100" cy="425196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6559" y="1920240"/>
            <a:ext cx="38100" cy="425196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1920240"/>
            <a:ext cx="38100" cy="425196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251960"/>
            <a:ext cx="7132320" cy="3810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5074920"/>
            <a:ext cx="7132320" cy="3810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5897880"/>
            <a:ext cx="7132320" cy="3810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6720840"/>
            <a:ext cx="7132320" cy="3810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7543800"/>
            <a:ext cx="7132320" cy="3810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8247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E645B"/>
                </a:solidFill>
                <a:latin typeface="Liberation Sans"/>
              </a:rPr>
              <a:t>PARK 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057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E645B"/>
                </a:solidFill>
                <a:latin typeface="Liberation Sans"/>
              </a:rPr>
              <a:t>MAIN 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932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E645B"/>
                </a:solidFill>
                <a:latin typeface="Liberation Sans"/>
              </a:rPr>
              <a:t>BARTHOLOMEW AVE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4389120"/>
            <a:ext cx="1371600" cy="1234440"/>
          </a:xfrm>
          <a:prstGeom prst="roundRect">
            <a:avLst>
              <a:gd name="adj" fmla="val 15000"/>
            </a:avLst>
          </a:prstGeom>
          <a:solidFill>
            <a:srgbClr val="E4E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4759" y="48463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F7A52"/>
                </a:solidFill>
                <a:latin typeface="Liberation Sans"/>
              </a:rPr>
              <a:t>Pope Park</a:t>
            </a:r>
          </a:p>
        </p:txBody>
      </p:sp>
      <p:sp>
        <p:nvSpPr>
          <p:cNvPr id="25" name="Freeform 24"/>
          <p:cNvSpPr/>
          <p:nvPr/>
        </p:nvSpPr>
        <p:spPr>
          <a:xfrm>
            <a:off x="3337560" y="5166360"/>
            <a:ext cx="3017519" cy="777240"/>
          </a:xfrm>
          <a:custGeom>
            <a:avLst/>
            <a:gdLst/>
            <a:ahLst/>
            <a:cxnLst/>
            <a:rect l="l" t="t" r="r" b="b"/>
            <a:pathLst>
              <a:path w="3017519" h="777240">
                <a:moveTo>
                  <a:pt x="0" y="777240"/>
                </a:moveTo>
                <a:lnTo>
                  <a:pt x="3017519" y="777240"/>
                </a:lnTo>
                <a:lnTo>
                  <a:pt x="3017519" y="0"/>
                </a:lnTo>
              </a:path>
            </a:pathLst>
          </a:custGeom>
          <a:noFill/>
          <a:ln w="69850">
            <a:solidFill>
              <a:srgbClr val="C9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45536" y="5751576"/>
            <a:ext cx="384048" cy="384048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73552" y="587959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63055" y="4974336"/>
            <a:ext cx="384048" cy="384048"/>
          </a:xfrm>
          <a:prstGeom prst="ellipse">
            <a:avLst/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91071" y="510235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389119" y="4114800"/>
            <a:ext cx="274320" cy="274320"/>
          </a:xfrm>
          <a:prstGeom prst="ellipse">
            <a:avLst/>
          </a:prstGeom>
          <a:solidFill>
            <a:srgbClr val="6E6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462271" y="418795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508760" y="542239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08760" y="5431536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A85A38"/>
                </a:solidFill>
                <a:latin typeface="Liberation Sans"/>
              </a:rPr>
              <a:t>YOU · Park St &amp; Hudson 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5720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F7A52"/>
                </a:solidFill>
                <a:latin typeface="Liberation Sans"/>
              </a:rPr>
              <a:t>Hands On Hartford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6217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0" y="6236207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🚌 CTtransit 33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5904" y="1847088"/>
            <a:ext cx="3319272" cy="45262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1783080"/>
            <a:ext cx="3319272" cy="4526280"/>
          </a:xfrm>
          <a:prstGeom prst="roundRect">
            <a:avLst>
              <a:gd name="adj" fmla="val 10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95360" y="20116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9A441"/>
                </a:solidFill>
                <a:latin typeface="Liberation Sans"/>
              </a:rPr>
              <a:t>WALK + BUS · 14 MIN</a:t>
            </a:r>
          </a:p>
        </p:txBody>
      </p:sp>
      <p:sp>
        <p:nvSpPr>
          <p:cNvPr id="40" name="Oval 39"/>
          <p:cNvSpPr/>
          <p:nvPr/>
        </p:nvSpPr>
        <p:spPr>
          <a:xfrm>
            <a:off x="8595360" y="2651760"/>
            <a:ext cx="256032" cy="256032"/>
          </a:xfrm>
          <a:prstGeom prst="ellipse">
            <a:avLst/>
          </a:prstGeom>
          <a:solidFill>
            <a:srgbClr val="9CA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06840" y="2606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Walk 3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295351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CCB8"/>
                </a:solidFill>
                <a:latin typeface="Liberation Sans"/>
              </a:rPr>
              <a:t>Park St &amp; Hudson St → stop PARHUDW</a:t>
            </a:r>
          </a:p>
        </p:txBody>
      </p:sp>
      <p:sp>
        <p:nvSpPr>
          <p:cNvPr id="43" name="Oval 42"/>
          <p:cNvSpPr/>
          <p:nvPr/>
        </p:nvSpPr>
        <p:spPr>
          <a:xfrm>
            <a:off x="8595360" y="3611880"/>
            <a:ext cx="256032" cy="256032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06840" y="35661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Bus 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91363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CCB8"/>
                </a:solidFill>
                <a:latin typeface="Liberation Sans"/>
              </a:rPr>
              <a:t>Park St → Parkville Station (8 min)</a:t>
            </a:r>
          </a:p>
        </p:txBody>
      </p:sp>
      <p:sp>
        <p:nvSpPr>
          <p:cNvPr id="46" name="Oval 45"/>
          <p:cNvSpPr/>
          <p:nvPr/>
        </p:nvSpPr>
        <p:spPr>
          <a:xfrm>
            <a:off x="8595360" y="4572000"/>
            <a:ext cx="256032" cy="256032"/>
          </a:xfrm>
          <a:prstGeom prst="ellipse">
            <a:avLst/>
          </a:prstGeom>
          <a:solidFill>
            <a:srgbClr val="9CA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06840" y="45262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Walk 3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487375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CCB8"/>
                </a:solidFill>
                <a:latin typeface="Liberation Sans"/>
              </a:rPr>
              <a:t>Station → 55 Bartholomew Ave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5486400"/>
            <a:ext cx="2788920" cy="548640"/>
          </a:xfrm>
          <a:prstGeom prst="roundRect">
            <a:avLst>
              <a:gd name="adj" fmla="val 3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95360" y="5504688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eration Sans"/>
              </a:rPr>
              <a:t>TAP TO CALL  ·  (860) 728-3201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HOW IT WORKS  ·  15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Four stages. AI where it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2167127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22860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eration Sans"/>
              </a:rPr>
              <a:t>🧠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1 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LLM parses free text
→ {where, mode, when}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3108960"/>
            <a:ext cx="384048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56432" y="2167127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01568" y="2103120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30168" y="22860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0168" y="2304288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eration Sans"/>
              </a:rPr>
              <a:t>HEURISTIC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6974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2  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20040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GTFS + OSM routing
walk / bus ETA per site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79008" y="3108960"/>
            <a:ext cx="384048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59" y="2167127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54496" y="2103120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83096" y="22860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A8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83096" y="2304288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eration Sans"/>
              </a:rPr>
              <a:t>🧠 LLM +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26974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3 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20040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“Likely open” 0–100
per site, per today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31936" y="3108960"/>
            <a:ext cx="384048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62288" y="2167127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07424" y="2103120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36024" y="22860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36024" y="2304288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eration Sans"/>
              </a:rPr>
              <a:t>CLIENT-SIDE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6974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4  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6024" y="320040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Ranked cards + Leaflet
map + directions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3" y="4636008"/>
            <a:ext cx="11091672" cy="173736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1109167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7548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A85A38"/>
                </a:solidFill>
                <a:latin typeface="Liberation Sans"/>
              </a:rPr>
              <a:t>“LIKELY OPEN” IN ONE SENTENCE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206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2E2A26"/>
                </a:solidFill>
                <a:latin typeface="Liberation Sans"/>
              </a:rPr>
              <a:t>Each site scores 0–100 from its posted hours, how recently those hours were verified, and whether right now falls inside them — known-closed sites are filtered out, the rest ranked with a plain-language rationale.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DATA PIPELINE  ·  15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Curated today. Built to stay fresh.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2167127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C96F4A"/>
                </a:solidFill>
                <a:latin typeface="Liberation Sans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CT Foodshare
211 CT
USDA SNAP 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96312" y="3017520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67127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079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79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39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D9A441"/>
                </a:solidFill>
                <a:latin typeface="Liberation Sans"/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LLM reconciles messy
hours → clean schema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3752" y="3017520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58383" y="2167127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03519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03519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40679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5F7A52"/>
                </a:solidFill>
                <a:latin typeface="Liberation Sans"/>
              </a:rPr>
              <a:t>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79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Spatial index
30 Greater-Hartford sites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51191" y="3017520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35823" y="2167127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80959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59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A8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19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A85A38"/>
                </a:solidFill>
                <a:latin typeface="Liberation Sans"/>
              </a:rPr>
              <a:t>MERGE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CTtransit GTFS
stop + schedule join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28632" y="3017520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113263" y="2167127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058399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58399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95559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2A26"/>
                </a:solidFill>
                <a:latin typeface="Liberation Sans"/>
              </a:rPr>
              <a:t>SERVE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59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Query flow:
intent → rank →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>
                <a:solidFill>
                  <a:srgbClr val="C96F4A"/>
                </a:solidFill>
                <a:latin typeface="Liberation Sans"/>
              </a:rPr>
              <a:t>•  </a:t>
            </a:r>
            <a:r>
              <a:rPr sz="1450" b="1">
                <a:solidFill>
                  <a:srgbClr val="2E2A26"/>
                </a:solidFill>
                <a:latin typeface="Liberation Sans"/>
              </a:rPr>
              <a:t>Today (hackathon): </a:t>
            </a:r>
            <a:r>
              <a:rPr sz="1450" b="0">
                <a:solidFill>
                  <a:srgbClr val="2E2A26"/>
                </a:solidFill>
                <a:latin typeface="Liberation Sans"/>
              </a:rPr>
              <a:t>hand-curated dataset, ~30 Greater Hartford sites — every row has name, address, type, and phone or hours. Demo runs client-side; nothing to fail at 5 PM.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>
                <a:solidFill>
                  <a:srgbClr val="C96F4A"/>
                </a:solidFill>
                <a:latin typeface="Liberation Sans"/>
              </a:rPr>
              <a:t>•  </a:t>
            </a:r>
            <a:r>
              <a:rPr sz="1450" b="1">
                <a:solidFill>
                  <a:srgbClr val="2E2A26"/>
                </a:solidFill>
                <a:latin typeface="Liberation Sans"/>
              </a:rPr>
              <a:t>Next: </a:t>
            </a:r>
            <a:r>
              <a:rPr sz="1450" b="0">
                <a:solidFill>
                  <a:srgbClr val="2E2A26"/>
                </a:solidFill>
                <a:latin typeface="Liberation Sans"/>
              </a:rPr>
              <a:t>hourly refresh job + 211 CT / Foodshare partnership for live hours; volunteer-reported updates as the freshness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WHY THIS WINS  ·  35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What's near isn't what's reachable.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1672" cy="502920"/>
          </a:xfrm>
          <a:prstGeom prst="roundRect">
            <a:avLst>
              <a:gd name="adj" fmla="val 10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8CCB8"/>
                </a:solidFill>
                <a:latin typeface="Liberation Sans"/>
              </a:rPr>
              <a:t>EXISTING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9A441"/>
                </a:solidFill>
                <a:latin typeface="Liberation Sans"/>
              </a:rPr>
              <a:t>FRESH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441448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6E645B"/>
                </a:solidFill>
                <a:latin typeface="Liberation Sans"/>
              </a:rPr>
              <a:t>Directory lists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2651760"/>
            <a:ext cx="502920" cy="292608"/>
          </a:xfrm>
          <a:prstGeom prst="rightArrow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40487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2A26"/>
                </a:solidFill>
                <a:latin typeface="Liberation Sans"/>
              </a:rPr>
              <a:t>Multi-modal routing + ETA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39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45B"/>
                </a:solidFill>
                <a:latin typeface="Liberation Sans"/>
              </a:rPr>
              <a:t>Distance ≠ reachable without a car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55848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F5EED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6E645B"/>
                </a:solidFill>
                <a:latin typeface="Liberation Sans"/>
              </a:rPr>
              <a:t>Static hours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06440" y="3675887"/>
            <a:ext cx="502920" cy="292608"/>
          </a:xfrm>
          <a:prstGeom prst="rightArrow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4290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2A26"/>
                </a:solidFill>
                <a:latin typeface="Liberation Sans"/>
              </a:rPr>
              <a:t>“Likely open” confidence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5876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45B"/>
                </a:solidFill>
                <a:latin typeface="Liberation Sans"/>
              </a:rPr>
              <a:t>Filters closed-today sites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79976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489704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6E645B"/>
                </a:solidFill>
                <a:latin typeface="Liberation Sans"/>
              </a:rPr>
              <a:t>Caseworker manual search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06440" y="4700016"/>
            <a:ext cx="502920" cy="292608"/>
          </a:xfrm>
          <a:prstGeom prst="rightArrow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4531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2A26"/>
                </a:solidFill>
                <a:latin typeface="Liberation Sans"/>
              </a:rPr>
              <a:t>Plain language → structured answer in seconds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88289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45B"/>
                </a:solidFill>
                <a:latin typeface="Liberation Sans"/>
              </a:rPr>
              <a:t>No cross-referencing 3+ directories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04104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F5EED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513832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6E645B"/>
                </a:solidFill>
                <a:latin typeface="Liberation Sans"/>
              </a:rPr>
              <a:t>Desktop-only tools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806440" y="5724144"/>
            <a:ext cx="502920" cy="292608"/>
          </a:xfrm>
          <a:prstGeom prst="rightArrow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5477256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2A26"/>
                </a:solidFill>
                <a:latin typeface="Liberation Sans"/>
              </a:rPr>
              <a:t>Mobile-first, works on a 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907024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45B"/>
                </a:solidFill>
                <a:latin typeface="Liberation Sans"/>
              </a:rPr>
              <a:t>Meets Maria where she already 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TRACTION  ·  15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Built, tested, and red-teamed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1847088"/>
            <a:ext cx="3429000" cy="24688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42900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011680"/>
            <a:ext cx="2880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96F4A"/>
                </a:solidFill>
                <a:latin typeface="DejaVu Serif"/>
              </a:rPr>
              <a:t>5 messy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typos, Spanish, “tomorrow morning,” vague locations — run against the parser at our 2:30 PM trust checkpoint; failures became the bug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3" y="1847088"/>
            <a:ext cx="3429000" cy="24688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51959" y="1783080"/>
            <a:ext cx="342900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79" y="2011680"/>
            <a:ext cx="2880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5F7A52"/>
                </a:solidFill>
                <a:latin typeface="DejaVu Serif"/>
              </a:rPr>
              <a:t>~30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7889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hand-curated Greater Hartford dataset — every row verified to have name, address, type, and phone or hours before it ships.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847088"/>
            <a:ext cx="3429000" cy="246888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55279" y="1783080"/>
            <a:ext cx="342900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2880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D9A441"/>
                </a:solidFill>
                <a:latin typeface="DejaVu Serif"/>
              </a:rPr>
              <a:t>0 stage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client-side demo with pre-generated fallback outputs — the LLM enhances, but a network failure can't strand the presentation.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3" y="4590288"/>
            <a:ext cx="11091672" cy="146304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11091672" cy="1463040"/>
          </a:xfrm>
          <a:prstGeom prst="roundRect">
            <a:avLst>
              <a:gd name="adj" fmla="val 10000"/>
            </a:avLst>
          </a:prstGeom>
          <a:solidFill>
            <a:srgbClr val="EFF3E9"/>
          </a:solidFill>
          <a:ln w="15875">
            <a:solidFill>
              <a:srgbClr val="9CA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681728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F7A52"/>
                </a:solidFill>
                <a:latin typeface="Liberation Sans"/>
              </a:rPr>
              <a:t>NEXT VALIDATION  ·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E2A26"/>
                </a:solidFill>
                <a:latin typeface="Liberation Sans"/>
              </a:rPr>
              <a:t>pilot conversation with 211 CT / Connecticut Foodshare for live hours; caseworker timing study (manual lookup vs. Fresh Route) as the success metric. No partner commitments claimed yet — that's week-one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DejaVu Serif"/>
              </a:rPr>
              <a:t>Fresh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D9A441"/>
                </a:solidFill>
                <a:latin typeface="DejaVu Serif"/>
              </a:rPr>
              <a:t>Ask naturally. Get there reliably.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3A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19" y="269748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David Ripper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246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D9A441"/>
                </a:solidFill>
                <a:latin typeface="Liberation Sans"/>
              </a:rPr>
              <a:t>Research · story · 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7033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D8CCB8"/>
                </a:solidFill>
                <a:latin typeface="Liberation Sans"/>
              </a:rPr>
              <a:t>Burnside AI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37744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3A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69748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Avidant Allen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46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D9A441"/>
                </a:solidFill>
                <a:latin typeface="Liberation Sans"/>
              </a:rPr>
              <a:t>Data · curation ·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033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D8CCB8"/>
                </a:solidFill>
                <a:latin typeface="Liberation Sans"/>
              </a:rPr>
              <a:t>Burnside AI Labs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37744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3A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269748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Rohan Vibhuti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246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D9A441"/>
                </a:solidFill>
                <a:latin typeface="Liberation Sans"/>
              </a:rPr>
              <a:t>Build · UX ·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7033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D8CCB8"/>
                </a:solidFill>
                <a:latin typeface="Liberation Sans"/>
              </a:rPr>
              <a:t>Burnside AI Labs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3A342E"/>
          </a:solidFill>
          <a:ln w="15875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Liberation Sans"/>
              </a:rPr>
              <a:t>Demo + code repository link shared live at presentation.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D8CCB8"/>
                </a:solidFill>
                <a:latin typeface="Liberation Sans"/>
              </a:rPr>
              <a:t>Built at Hack for Humanity · UConn Hartford · September 30,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APPENDIX  ·  REFERENCE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“Likely open” scoring — the detail.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1847088"/>
            <a:ext cx="11091672" cy="100584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167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Liberation Sans"/>
              </a:rPr>
              <a:t>90–100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11095"/>
            <a:ext cx="3840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Likely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11095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45B"/>
                </a:solidFill>
                <a:latin typeface="Liberation Sans"/>
              </a:rPr>
              <a:t>Open now per posted hours, verified recently.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3" y="2962656"/>
            <a:ext cx="11091672" cy="100584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898648"/>
            <a:ext cx="1109167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317296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91256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Liberation Sans"/>
              </a:rPr>
              <a:t>60–89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026664"/>
            <a:ext cx="3840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Probably open — call to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26664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45B"/>
                </a:solidFill>
                <a:latin typeface="Liberation Sans"/>
              </a:rPr>
              <a:t>Open now per hours, but hours unverified or stale.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3" y="4078224"/>
            <a:ext cx="11091672" cy="100584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4014215"/>
            <a:ext cx="1109167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4288536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306823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Liberation Sans"/>
              </a:rPr>
              <a:t>30–59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142231"/>
            <a:ext cx="3840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Hours unverified — call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142231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45B"/>
                </a:solidFill>
                <a:latin typeface="Liberation Sans"/>
              </a:rPr>
              <a:t>No usable hours; still listed, scored down, phone prominent.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3" y="5193792"/>
            <a:ext cx="11091672" cy="100584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48640" y="5129784"/>
            <a:ext cx="1109167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7240" y="5404104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6E6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422392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Liberation Sans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257800"/>
            <a:ext cx="3840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E2A26"/>
                </a:solidFill>
                <a:latin typeface="Liberation Sans"/>
              </a:rPr>
              <a:t>Filtered from “today”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25780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E645B"/>
                </a:solidFill>
                <a:latin typeface="Liberation Sans"/>
              </a:rPr>
              <a:t>Known closed today — shown under “tomorrow / plan ahead.”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45B"/>
                </a:solidFill>
                <a:latin typeface="Liberation Sans"/>
              </a:rPr>
              <a:t>Inputs: current day/time · site hours row · verification recency. Every result carries a one-line plain-language rationale.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eration Sans"/>
              </a:rPr>
              <a:t>APPENDIX  ·  REFERENCE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E2A26"/>
                </a:solidFill>
                <a:latin typeface="DejaVu Serif"/>
              </a:rPr>
              <a:t>Data schema &amp; what's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3" y="1847088"/>
            <a:ext cx="5394960" cy="4206240"/>
          </a:xfrm>
          <a:prstGeom prst="roundRect">
            <a:avLst>
              <a:gd name="adj" fmla="val 10000"/>
            </a:avLst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0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9A441"/>
                </a:solidFill>
                <a:latin typeface="Liberation Sans"/>
              </a:rPr>
              <a:t>SITE SCHEMA (v1)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463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Liberation Sans Mono"/>
              </a:rPr>
              <a:t>id, name, address, town, type
  (pantry / mobile / SNAP grocer)
phone, hours {mon…sun}, snap_accepted
transit_notes, lat, lng
verified (date), notes
Curation rule: every row ships with
phone OR hours — never neither.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85A38"/>
                </a:solidFill>
                <a:latin typeface="Liberation Sans"/>
              </a:rPr>
              <a:t>FUTURE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2E2A26"/>
                </a:solidFill>
                <a:latin typeface="Liberation Sans"/>
              </a:rPr>
              <a:t>•  Spanish-language parsing + responses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2E2A26"/>
                </a:solidFill>
                <a:latin typeface="Liberation Sans"/>
              </a:rPr>
              <a:t>•  Dietary / cultural filters (halal, kosher, vegetarian)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2E2A26"/>
                </a:solidFill>
                <a:latin typeface="Liberation Sans"/>
              </a:rPr>
              <a:t>•  “Text me this” summary for caseworkers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2E2A26"/>
                </a:solidFill>
                <a:latin typeface="Liberation Sans"/>
              </a:rPr>
              <a:t>•  Every-other-week cadence modeling for mobile sites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2E2A26"/>
                </a:solidFill>
                <a:latin typeface="Liberation Sans"/>
              </a:rPr>
              <a:t>•  SNAP retailer freshness checks (USDA CSV is Dec 2022)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2E2A26"/>
                </a:solidFill>
                <a:latin typeface="Liberation Sans"/>
              </a:rPr>
              <a:t>•  Expand beyond Greater Hartford — method scales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2525</Words>
  <Application>Microsoft Office PowerPoint</Application>
  <PresentationFormat>Widescreen</PresentationFormat>
  <Paragraphs>224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DejaVu Serif</vt:lpstr>
      <vt:lpstr>Liberation Sans</vt:lpstr>
      <vt:lpstr>Liberation Sans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ripper</dc:creator>
  <cp:keywords/>
  <dc:description>generated using python-pptx</dc:description>
  <cp:lastModifiedBy>david ripper</cp:lastModifiedBy>
  <cp:revision>1</cp:revision>
  <dcterms:created xsi:type="dcterms:W3CDTF">2013-01-27T09:14:16Z</dcterms:created>
  <dcterms:modified xsi:type="dcterms:W3CDTF">2026-09-30T19:12:31Z</dcterms:modified>
  <cp:category/>
</cp:coreProperties>
</file>